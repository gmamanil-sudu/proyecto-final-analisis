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449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F6674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114800"/>
            <a:ext cx="2926080" cy="2926080"/>
          </a:xfrm>
          <a:prstGeom prst="ellipse">
            <a:avLst/>
          </a:prstGeom>
          <a:solidFill>
            <a:srgbClr val="8C5A3C">
              <a:alpha val="30000"/>
            </a:srgbClr>
          </a:solidFill>
          <a:ln/>
        </p:spPr>
      </p:sp>
      <p:pic>
        <p:nvPicPr>
          <p:cNvPr id="4" name="Image 0" descr="icons/FaCou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4884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32004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RECREA MUEBLES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D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Muebles únicos con historia — diseño y economía circular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5394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Final — Curso de Liderazgo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de la idea de negocio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[Sebastian German Gomez Portugal]  •  Julio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IDENTIDAD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"ReCrea Muebles"?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7F5F0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icons/FaRecyc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116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0116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3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Reciclar</a:t>
            </a:r>
            <a:endParaRPr lang="en-US" sz="1800" dirty="0"/>
          </a:p>
        </p:txBody>
      </p:sp>
      <p:pic>
        <p:nvPicPr>
          <p:cNvPr id="7" name="Image 1" descr="icons/FaLightbulb_wo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78892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27889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3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Crear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68680" y="365760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resume la esencia del negocio: dar una segunda vida a la madera recuperada a través de un proceso creativo de diseño, uniendo los principios de la economía circular con la artesanía y la innovación.</a:t>
            </a:r>
            <a:endParaRPr lang="en-US" sz="1500" dirty="0"/>
          </a:p>
        </p:txBody>
      </p:sp>
      <p:pic>
        <p:nvPicPr>
          <p:cNvPr id="10" name="Image 2" descr="icons/FaTree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103120"/>
            <a:ext cx="2194560" cy="219456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583680" y="1828800"/>
            <a:ext cx="2743200" cy="2743200"/>
          </a:xfrm>
          <a:prstGeom prst="ellipse">
            <a:avLst/>
          </a:prstGeom>
          <a:solidFill>
            <a:srgbClr val="E7F3F1"/>
          </a:solidFill>
          <a:ln w="19050">
            <a:solidFill>
              <a:srgbClr val="3FA79A"/>
            </a:solidFill>
            <a:prstDash val="solid"/>
          </a:ln>
        </p:spPr>
      </p:sp>
      <p:pic>
        <p:nvPicPr>
          <p:cNvPr id="12" name="Image 3" descr="icons/FaTree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2423160"/>
            <a:ext cx="1554480" cy="1554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09360" y="4709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F66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"Reciclar y crear muebles"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DE NEGOCIO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 de valor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fabricación artesanal de muebles de diseño (estilo industrial, rústico y moderno), elaborados con 100% madera recuperada y materiales de bajo impacto ambiental.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7F5F0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2971800"/>
            <a:ext cx="868680" cy="868680"/>
          </a:xfrm>
          <a:prstGeom prst="ellipse">
            <a:avLst/>
          </a:prstGeom>
          <a:solidFill>
            <a:srgbClr val="0F6674"/>
          </a:solidFill>
          <a:ln/>
        </p:spPr>
      </p:sp>
      <p:pic>
        <p:nvPicPr>
          <p:cNvPr id="7" name="Image 0" descr="icons/FaTre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488" y="317296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9776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Madera 100% recuperada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457200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Palets industriales, madera de demoliciones y muebles antiguos.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10712" y="26974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7F5F0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79392" y="2971800"/>
            <a:ext cx="868680" cy="868680"/>
          </a:xfrm>
          <a:prstGeom prst="ellipse">
            <a:avLst/>
          </a:prstGeom>
          <a:solidFill>
            <a:srgbClr val="0F6674"/>
          </a:solidFill>
          <a:ln/>
        </p:spPr>
      </p:sp>
      <p:pic>
        <p:nvPicPr>
          <p:cNvPr id="12" name="Image 1" descr="icons/FaLeaf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17296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9776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impacto ambiental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47872" y="457200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Barnices al agua y pegamentos ecológicos.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72784" y="26974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7F5F0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41464" y="2971800"/>
            <a:ext cx="868680" cy="868680"/>
          </a:xfrm>
          <a:prstGeom prst="ellipse">
            <a:avLst/>
          </a:prstGeom>
          <a:solidFill>
            <a:srgbClr val="0F6674"/>
          </a:solidFill>
          <a:ln/>
        </p:spPr>
      </p:sp>
      <p:pic>
        <p:nvPicPr>
          <p:cNvPr id="17" name="Image 2" descr="icons/FaCou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632" y="317296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9944" y="39776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Piezas exclusivas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9944" y="457200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"Muebles únicos con historia", no fabricados en serie.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134856" y="26974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7F5F0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03536" y="2971800"/>
            <a:ext cx="868680" cy="868680"/>
          </a:xfrm>
          <a:prstGeom prst="ellipse">
            <a:avLst/>
          </a:prstGeom>
          <a:solidFill>
            <a:srgbClr val="0F6674"/>
          </a:solidFill>
          <a:ln/>
        </p:spPr>
      </p:sp>
      <p:pic>
        <p:nvPicPr>
          <p:cNvPr id="22" name="Image 3" descr="icons/FaSeedlin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4704" y="3172968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39776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responsable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272016" y="457200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activamente deforestación y huella de carbono.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Y VISIÓN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0F6674"/>
          </a:solidFill>
          <a:ln/>
        </p:spPr>
      </p:sp>
      <p:pic>
        <p:nvPicPr>
          <p:cNvPr id="4" name="Image 0" descr="icons/Fa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MISIÓN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8680" y="233172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5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madera recuperada en muebles de alta calidad y diseño exclusivo, promoviendo un modelo de consumo responsable y economía circular para proteger nuestro medio ambiente, mientras generamos un impacto social positivo en nuestra comunidad.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63640" y="13716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8C5A3C"/>
          </a:solidFill>
          <a:ln/>
        </p:spPr>
      </p:sp>
      <p:pic>
        <p:nvPicPr>
          <p:cNvPr id="8" name="Image 1" descr="icons/FaMapMarkedA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69164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2376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VISIÓN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583680" y="233172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5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el taller de mobiliario sostenible referente a nivel nacional, demostrando que el diseño de interiores, la calidad artesanal y el cuidado del planeta pueden integrarse en un modelo de negocio exitoso e inspirador.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ORGANIZACIONAL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Nuestros valores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77240" cy="777240"/>
          </a:xfrm>
          <a:prstGeom prst="ellipse">
            <a:avLst/>
          </a:prstGeom>
          <a:solidFill>
            <a:srgbClr val="0F6674"/>
          </a:solidFill>
          <a:ln/>
        </p:spPr>
      </p:sp>
      <p:pic>
        <p:nvPicPr>
          <p:cNvPr id="5" name="Image 0" descr="icons/FaLeaf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745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733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Sostenibilidad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09160" y="1673352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inquebrantable con el medio ambiente en cada paso del proceso.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862072"/>
            <a:ext cx="777240" cy="777240"/>
          </a:xfrm>
          <a:prstGeom prst="ellipse">
            <a:avLst/>
          </a:prstGeom>
          <a:solidFill>
            <a:srgbClr val="8C5A3C"/>
          </a:solidFill>
          <a:ln/>
        </p:spPr>
      </p:sp>
      <p:pic>
        <p:nvPicPr>
          <p:cNvPr id="9" name="Image 1" descr="icons/FaTool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4495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84378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artesanal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709160" y="2843784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al detalle para garantizar muebles duraderos.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032504"/>
            <a:ext cx="777240" cy="777240"/>
          </a:xfrm>
          <a:prstGeom prst="ellipse">
            <a:avLst/>
          </a:prstGeom>
          <a:solidFill>
            <a:srgbClr val="0F6674"/>
          </a:solidFill>
          <a:ln/>
        </p:spPr>
      </p:sp>
      <p:pic>
        <p:nvPicPr>
          <p:cNvPr id="13" name="Image 2" descr="icons/FaBalanceSca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15384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01421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709160" y="4014216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 sobre el origen de nuestros materiales.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5202936"/>
            <a:ext cx="777240" cy="777240"/>
          </a:xfrm>
          <a:prstGeom prst="ellipse">
            <a:avLst/>
          </a:prstGeom>
          <a:solidFill>
            <a:srgbClr val="8C5A3C"/>
          </a:solidFill>
          <a:ln/>
        </p:spPr>
      </p:sp>
      <p:pic>
        <p:nvPicPr>
          <p:cNvPr id="17" name="Image 3" descr="icons/FaRegLightbulb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385816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91640" y="51846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709160" y="5184648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Creatividad constante para aprovechar los materiales recuperados.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QUIÉN NOS DIRIGIMOS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Público objetivo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EAF6F6"/>
          </a:solidFill>
          <a:ln/>
        </p:spPr>
      </p:sp>
      <p:pic>
        <p:nvPicPr>
          <p:cNvPr id="5" name="Image 0" descr="icons/FaUsers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659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057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PARTICULARES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3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Adultos jóvenes e independientes y familias (25-55 años) de ingresos medios-altos, con fuerte conciencia ecológica. Valoran el diseño de interiores, la exclusividad y buscan darle "alma" a sus hogares.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5EBE0"/>
          </a:solidFill>
          <a:ln/>
        </p:spPr>
      </p:sp>
      <p:pic>
        <p:nvPicPr>
          <p:cNvPr id="9" name="Image 1" descr="icons/FaStore_wo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9659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0" y="2057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58368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3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Cafeterías de especialidad, restaurantes con concepto orgánico, oficinas modernas y hoteles boutique que desean reflejar valores de sostenibilidad en su decoración y diseño de interiores.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A SEGUIR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Metas para lograr la misión y visión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40280" y="1965960"/>
            <a:ext cx="2084832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0" y="1947672"/>
            <a:ext cx="228600" cy="73152"/>
          </a:xfrm>
          <a:prstGeom prst="rect">
            <a:avLst/>
          </a:prstGeom>
          <a:solidFill>
            <a:srgbClr val="3FA79A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1783080"/>
            <a:ext cx="640080" cy="640080"/>
          </a:xfrm>
          <a:prstGeom prst="ellipse">
            <a:avLst/>
          </a:prstGeom>
          <a:solidFill>
            <a:srgbClr val="0F6674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7F5F0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063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4015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0 - 6 meses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79476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el taller, aliarnos con 3 proveedores de madera recuperada, lanzar 10 diseños y concretar las primeras 20 ventas.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16752" y="1965960"/>
            <a:ext cx="2084832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7891272" y="1947672"/>
            <a:ext cx="228600" cy="73152"/>
          </a:xfrm>
          <a:prstGeom prst="rect">
            <a:avLst/>
          </a:prstGeom>
          <a:solidFill>
            <a:srgbClr val="3FA79A"/>
          </a:solidFill>
          <a:ln/>
        </p:spPr>
      </p:sp>
      <p:sp>
        <p:nvSpPr>
          <p:cNvPr id="14" name="Shape 12"/>
          <p:cNvSpPr/>
          <p:nvPr/>
        </p:nvSpPr>
        <p:spPr>
          <a:xfrm>
            <a:off x="5696712" y="1783080"/>
            <a:ext cx="640080" cy="640080"/>
          </a:xfrm>
          <a:prstGeom prst="ellipse">
            <a:avLst/>
          </a:prstGeom>
          <a:solidFill>
            <a:srgbClr val="0F6674"/>
          </a:solidFill>
          <a:ln/>
        </p:spPr>
      </p:sp>
      <p:sp>
        <p:nvSpPr>
          <p:cNvPr id="15" name="Text 13"/>
          <p:cNvSpPr/>
          <p:nvPr/>
        </p:nvSpPr>
        <p:spPr>
          <a:xfrm>
            <a:off x="5696712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325112" y="283464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7F5F0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53712" y="3063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Mediano plazo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53712" y="34015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6 - 12 meses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53712" y="379476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Posicionarnos en 2 canales B2B (cafeterías/restaurantes) y alcanzar ventas mensuales recurrentes.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793224" y="1965960"/>
            <a:ext cx="2084832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Shape 19"/>
          <p:cNvSpPr/>
          <p:nvPr/>
        </p:nvSpPr>
        <p:spPr>
          <a:xfrm>
            <a:off x="9473184" y="1783080"/>
            <a:ext cx="640080" cy="640080"/>
          </a:xfrm>
          <a:prstGeom prst="ellipse">
            <a:avLst/>
          </a:prstGeom>
          <a:solidFill>
            <a:srgbClr val="0F6674"/>
          </a:solidFill>
          <a:ln/>
        </p:spPr>
      </p:sp>
      <p:sp>
        <p:nvSpPr>
          <p:cNvPr id="22" name="Text 20"/>
          <p:cNvSpPr/>
          <p:nvPr/>
        </p:nvSpPr>
        <p:spPr>
          <a:xfrm>
            <a:off x="9473184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101584" y="283464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7F5F0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330184" y="3063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plazo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30184" y="34015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2 - 3 años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30184" y="379476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referente regional de mobiliario sostenible y desarrollar una línea para hoteles boutique y oficinas.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COMPETITIVO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mercado y competencia</a:t>
            </a:r>
            <a:endParaRPr lang="en-US" sz="3000" dirty="0"/>
          </a:p>
        </p:txBody>
      </p:sp>
      <p:pic>
        <p:nvPicPr>
          <p:cNvPr id="4" name="Image 0" descr="icons/FaChartLin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en crecimiento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34440" y="21488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creciente hacia la sostenibilidad y el "diseño con propósito" en decoración e interiorismo.</a:t>
            </a:r>
            <a:endParaRPr lang="en-US" sz="1300" dirty="0"/>
          </a:p>
        </p:txBody>
      </p:sp>
      <p:pic>
        <p:nvPicPr>
          <p:cNvPr id="7" name="Image 1" descr="icons/FaHammer_wo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918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3291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directa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34440" y="37490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artesanales de upcycling y carpinterías de diseño rústico-industrial bajo pedido.</a:t>
            </a:r>
            <a:endParaRPr lang="en-US" sz="1300" dirty="0"/>
          </a:p>
        </p:txBody>
      </p:sp>
      <p:pic>
        <p:nvPicPr>
          <p:cNvPr id="10" name="Image 2" descr="icons/FaStore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89204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4892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indirecta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234440" y="53492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retailers de mobiliario en serie e importadores de diseño.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92240" y="169164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0B3C49"/>
          </a:solidFill>
          <a:ln/>
        </p:spPr>
      </p:sp>
      <p:pic>
        <p:nvPicPr>
          <p:cNvPr id="14" name="Image 3" descr="icons/FaSeedlin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1965960"/>
            <a:ext cx="502920" cy="5029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5236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3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COMPETITIVA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812280" y="260604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E5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exclusivo y verificable de 100% madera recuperada, narrativa de "mueble con historia" (trazabilidad del origen), personalización real y bajo impacto ambiental en los insumos.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ESTRATÉGICO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FODA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7F5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109728" cy="2103120"/>
          </a:xfrm>
          <a:prstGeom prst="rect">
            <a:avLst/>
          </a:prstGeom>
          <a:solidFill>
            <a:srgbClr val="0F667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562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prima de bajo costo. Producto diferenciado y con historia. Alineado a tendencias sostenibles.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7F5F0"/>
          </a:solidFill>
          <a:ln/>
        </p:spPr>
      </p:sp>
      <p:sp>
        <p:nvSpPr>
          <p:cNvPr id="9" name="Shape 7"/>
          <p:cNvSpPr/>
          <p:nvPr/>
        </p:nvSpPr>
        <p:spPr>
          <a:xfrm>
            <a:off x="6126480" y="1691640"/>
            <a:ext cx="109728" cy="2103120"/>
          </a:xfrm>
          <a:prstGeom prst="rect">
            <a:avLst/>
          </a:prstGeom>
          <a:solidFill>
            <a:srgbClr val="3FA79A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8562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28600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en crecimiento. Alianzas con negocios "verdes". Ferias y fondos de economía circular.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7F5F0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023360"/>
            <a:ext cx="109728" cy="2103120"/>
          </a:xfrm>
          <a:prstGeom prst="rect">
            <a:avLst/>
          </a:prstGeom>
          <a:solidFill>
            <a:srgbClr val="8C5A3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879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61772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limitada (taller pequeño). Dependencia de disponibilidad de madera. Poca notoriedad inicial.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4023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7F5F0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4023360"/>
            <a:ext cx="109728" cy="2103120"/>
          </a:xfrm>
          <a:prstGeom prst="rect">
            <a:avLst/>
          </a:prstGeom>
          <a:solidFill>
            <a:srgbClr val="8C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41879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461772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de retailers de bajo precio. Posible escasez de madera de calidad. Imitación de la propuesta.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MEDIBLES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SMART (primer año)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94360" cy="594360"/>
          </a:xfrm>
          <a:prstGeom prst="ellipse">
            <a:avLst/>
          </a:prstGeom>
          <a:solidFill>
            <a:srgbClr val="0F667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63040" y="1691640"/>
            <a:ext cx="10149840" cy="868680"/>
          </a:xfrm>
          <a:prstGeom prst="roundRect">
            <a:avLst>
              <a:gd name="adj" fmla="val 6316"/>
            </a:avLst>
          </a:prstGeom>
          <a:solidFill>
            <a:srgbClr val="F7F5F0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169164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50 piezas en los primeros 6 meses, generando S/ 30,000 en ingresos.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94360" cy="594360"/>
          </a:xfrm>
          <a:prstGeom prst="ellipse">
            <a:avLst/>
          </a:prstGeom>
          <a:solidFill>
            <a:srgbClr val="8C5A3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63040" y="2788920"/>
            <a:ext cx="10149840" cy="868680"/>
          </a:xfrm>
          <a:prstGeom prst="roundRect">
            <a:avLst>
              <a:gd name="adj" fmla="val 6316"/>
            </a:avLst>
          </a:prstGeom>
          <a:solidFill>
            <a:srgbClr val="F7F5F0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278892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Aliarnos con 3 proveedores de madera recuperada en los primeros 3 meses.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94360" cy="594360"/>
          </a:xfrm>
          <a:prstGeom prst="ellipse">
            <a:avLst/>
          </a:prstGeom>
          <a:solidFill>
            <a:srgbClr val="0F667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31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63040" y="3886200"/>
            <a:ext cx="10149840" cy="868680"/>
          </a:xfrm>
          <a:prstGeom prst="roundRect">
            <a:avLst>
              <a:gd name="adj" fmla="val 6316"/>
            </a:avLst>
          </a:prstGeom>
          <a:solidFill>
            <a:srgbClr val="F7F5F0"/>
          </a:solidFill>
          <a:ln/>
        </p:spPr>
      </p:sp>
      <p:sp>
        <p:nvSpPr>
          <p:cNvPr id="15" name="Text 13"/>
          <p:cNvSpPr/>
          <p:nvPr/>
        </p:nvSpPr>
        <p:spPr>
          <a:xfrm>
            <a:off x="1691640" y="388620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Lograr 80% de clientes satisfechos (4-5 estrellas) durante el primer año.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594360" cy="594360"/>
          </a:xfrm>
          <a:prstGeom prst="ellipse">
            <a:avLst/>
          </a:prstGeom>
          <a:solidFill>
            <a:srgbClr val="8C5A3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29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63040" y="4983480"/>
            <a:ext cx="10149840" cy="868680"/>
          </a:xfrm>
          <a:prstGeom prst="roundRect">
            <a:avLst>
              <a:gd name="adj" fmla="val 6316"/>
            </a:avLst>
          </a:prstGeom>
          <a:solidFill>
            <a:srgbClr val="F7F5F0"/>
          </a:solidFill>
          <a:ln/>
        </p:spPr>
      </p:sp>
      <p:sp>
        <p:nvSpPr>
          <p:cNvPr id="19" name="Text 17"/>
          <p:cNvSpPr/>
          <p:nvPr/>
        </p:nvSpPr>
        <p:spPr>
          <a:xfrm>
            <a:off x="1691640" y="498348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Participar en 4 ferias de emprendimiento sostenible durante el primer año.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APOYO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 y negociación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7F5F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0F6674"/>
          </a:solidFill>
          <a:ln/>
        </p:spPr>
      </p:sp>
      <p:pic>
        <p:nvPicPr>
          <p:cNvPr id="6" name="Image 0" descr="icons/Fa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15798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288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Gremios y asociaciones de carpinteros y artesanos locales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17373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7F5F0"/>
          </a:solidFill>
          <a:ln/>
        </p:spPr>
      </p:sp>
      <p:sp>
        <p:nvSpPr>
          <p:cNvPr id="9" name="Shape 6"/>
          <p:cNvSpPr/>
          <p:nvPr/>
        </p:nvSpPr>
        <p:spPr>
          <a:xfrm>
            <a:off x="6355080" y="2011680"/>
            <a:ext cx="640080" cy="640080"/>
          </a:xfrm>
          <a:prstGeom prst="ellipse">
            <a:avLst/>
          </a:prstGeom>
          <a:solidFill>
            <a:srgbClr val="0F6674"/>
          </a:solidFill>
          <a:ln/>
        </p:spPr>
      </p:sp>
      <p:pic>
        <p:nvPicPr>
          <p:cNvPr id="10" name="Image 1" descr="icons/Fa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215798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8288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Ferias y redes de emprendimiento sostenible / economía circular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1546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7F5F0"/>
          </a:solidFill>
          <a:ln/>
        </p:spPr>
      </p:sp>
      <p:sp>
        <p:nvSpPr>
          <p:cNvPr id="13" name="Shape 9"/>
          <p:cNvSpPr/>
          <p:nvPr/>
        </p:nvSpPr>
        <p:spPr>
          <a:xfrm>
            <a:off x="731520" y="3429000"/>
            <a:ext cx="640080" cy="640080"/>
          </a:xfrm>
          <a:prstGeom prst="ellipse">
            <a:avLst/>
          </a:prstGeom>
          <a:solidFill>
            <a:srgbClr val="0F6674"/>
          </a:solidFill>
          <a:ln/>
        </p:spPr>
      </p:sp>
      <p:pic>
        <p:nvPicPr>
          <p:cNvPr id="14" name="Image 2" descr="icons/Fa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57530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2461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Asociaciones de diseño de interiores y arquitectura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172200" y="31546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7F5F0"/>
          </a:solidFill>
          <a:ln/>
        </p:spPr>
      </p:sp>
      <p:sp>
        <p:nvSpPr>
          <p:cNvPr id="17" name="Shape 12"/>
          <p:cNvSpPr/>
          <p:nvPr/>
        </p:nvSpPr>
        <p:spPr>
          <a:xfrm>
            <a:off x="6355080" y="3429000"/>
            <a:ext cx="640080" cy="640080"/>
          </a:xfrm>
          <a:prstGeom prst="ellipse">
            <a:avLst/>
          </a:prstGeom>
          <a:solidFill>
            <a:srgbClr val="0F6674"/>
          </a:solidFill>
          <a:ln/>
        </p:spPr>
      </p:sp>
      <p:pic>
        <p:nvPicPr>
          <p:cNvPr id="18" name="Image 3" descr="icons/Fa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357530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78040" y="32461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logísticos y generadores de descarte de pallets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5720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7F5F0"/>
          </a:solidFill>
          <a:ln/>
        </p:spPr>
      </p:sp>
      <p:sp>
        <p:nvSpPr>
          <p:cNvPr id="21" name="Shape 15"/>
          <p:cNvSpPr/>
          <p:nvPr/>
        </p:nvSpPr>
        <p:spPr>
          <a:xfrm>
            <a:off x="731520" y="4846320"/>
            <a:ext cx="640080" cy="640080"/>
          </a:xfrm>
          <a:prstGeom prst="ellipse">
            <a:avLst/>
          </a:prstGeom>
          <a:solidFill>
            <a:srgbClr val="0F6674"/>
          </a:solidFill>
          <a:ln/>
        </p:spPr>
      </p:sp>
      <p:pic>
        <p:nvPicPr>
          <p:cNvPr id="22" name="Image 4" descr="icons/Fa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992624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466344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 digitales de consumo responsable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172200" y="45720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7F5F0"/>
          </a:solidFill>
          <a:ln/>
        </p:spPr>
      </p:sp>
      <p:sp>
        <p:nvSpPr>
          <p:cNvPr id="25" name="Shape 18"/>
          <p:cNvSpPr/>
          <p:nvPr/>
        </p:nvSpPr>
        <p:spPr>
          <a:xfrm>
            <a:off x="6355080" y="4846320"/>
            <a:ext cx="640080" cy="640080"/>
          </a:xfrm>
          <a:prstGeom prst="ellipse">
            <a:avLst/>
          </a:prstGeom>
          <a:solidFill>
            <a:srgbClr val="0F6674"/>
          </a:solidFill>
          <a:ln/>
        </p:spPr>
      </p:sp>
      <p:pic>
        <p:nvPicPr>
          <p:cNvPr id="26" name="Image 5" descr="icons/Fa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4992624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78040" y="466344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Municipalidad y entidades ambientales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DE EQUIPO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Dinámicas de trabajo en equipo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7F5F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0F6674"/>
          </a:solidFill>
          <a:ln/>
        </p:spPr>
      </p:sp>
      <p:pic>
        <p:nvPicPr>
          <p:cNvPr id="6" name="Image 0" descr="icons/Fa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659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del Mueble Ideal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7889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F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100% del equipo propone una mejora mensual.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integrante presenta una idea de mejora usando una pieza de madera como "lienzo". La mejor propuesta se implementa ese mes.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7F5F0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8C5A3C"/>
          </a:solidFill>
          <a:ln/>
        </p:spPr>
      </p:sp>
      <p:pic>
        <p:nvPicPr>
          <p:cNvPr id="12" name="Image 1" descr="icons/Fa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1214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19659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 de Restauración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46520" y="27889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+20% en clima laboral en 3 meses.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46520" y="333756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dedica una hora mensual a restaurar una pieza libre, con música y refrigerio, fomentando la creatividad y cohesión.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LIDERAZGO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liderazgo transformacional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 una visión de sostenibilidad y estimula la creatividad e innovación del equipo en el diseño de cada mueble.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F667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317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inspiradora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233172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F6674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23317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Pasión por la sostenibilidad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233172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F6674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0" y="23317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Creatividad e innovación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F667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661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técnico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356616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F6674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35661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Empatía y escucha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356616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F6674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35661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y coherencia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D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Seguidores: eficaces (Kelley) — pensamiento crítico e iniciativa propia   |   Poder: referente y experto (French &amp; Raven)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y roles del equipo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horizontal y orgánica, con alta autonomía operativa en diseño y producción.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0F6674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25603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3429000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Fundador(a) / Gerente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4297680"/>
            <a:ext cx="179222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5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Visión, alianzas y finanzas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61488" y="228600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F7F5F0"/>
          </a:solidFill>
          <a:ln/>
        </p:spPr>
      </p:sp>
      <p:sp>
        <p:nvSpPr>
          <p:cNvPr id="11" name="Shape 9"/>
          <p:cNvSpPr/>
          <p:nvPr/>
        </p:nvSpPr>
        <p:spPr>
          <a:xfrm>
            <a:off x="3401568" y="2560320"/>
            <a:ext cx="731520" cy="731520"/>
          </a:xfrm>
          <a:prstGeom prst="ellipse">
            <a:avLst/>
          </a:prstGeom>
          <a:solidFill>
            <a:srgbClr val="0F6674"/>
          </a:solidFill>
          <a:ln/>
        </p:spPr>
      </p:sp>
      <p:sp>
        <p:nvSpPr>
          <p:cNvPr id="12" name="Text 10"/>
          <p:cNvSpPr/>
          <p:nvPr/>
        </p:nvSpPr>
        <p:spPr>
          <a:xfrm>
            <a:off x="3401568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71216" y="3429000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Diseñador(a)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71216" y="4297680"/>
            <a:ext cx="179222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Bocetos y coherencia estética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74336" y="228600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F7F5F0"/>
          </a:solidFill>
          <a:ln/>
        </p:spPr>
      </p:sp>
      <p:sp>
        <p:nvSpPr>
          <p:cNvPr id="16" name="Shape 14"/>
          <p:cNvSpPr/>
          <p:nvPr/>
        </p:nvSpPr>
        <p:spPr>
          <a:xfrm>
            <a:off x="5614416" y="2560320"/>
            <a:ext cx="731520" cy="731520"/>
          </a:xfrm>
          <a:prstGeom prst="ellipse">
            <a:avLst/>
          </a:prstGeom>
          <a:solidFill>
            <a:srgbClr val="0F6674"/>
          </a:solidFill>
          <a:ln/>
        </p:spPr>
      </p:sp>
      <p:sp>
        <p:nvSpPr>
          <p:cNvPr id="17" name="Text 15"/>
          <p:cNvSpPr/>
          <p:nvPr/>
        </p:nvSpPr>
        <p:spPr>
          <a:xfrm>
            <a:off x="5614416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84064" y="3429000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Maestro(a) carpintero(a)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84064" y="4297680"/>
            <a:ext cx="179222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Fabricación y calidad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87184" y="228600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F7F5F0"/>
          </a:solidFill>
          <a:ln/>
        </p:spPr>
      </p:sp>
      <p:sp>
        <p:nvSpPr>
          <p:cNvPr id="21" name="Shape 19"/>
          <p:cNvSpPr/>
          <p:nvPr/>
        </p:nvSpPr>
        <p:spPr>
          <a:xfrm>
            <a:off x="7827264" y="2560320"/>
            <a:ext cx="731520" cy="731520"/>
          </a:xfrm>
          <a:prstGeom prst="ellipse">
            <a:avLst/>
          </a:prstGeom>
          <a:solidFill>
            <a:srgbClr val="0F6674"/>
          </a:solidFill>
          <a:ln/>
        </p:spPr>
      </p:sp>
      <p:sp>
        <p:nvSpPr>
          <p:cNvPr id="22" name="Text 20"/>
          <p:cNvSpPr/>
          <p:nvPr/>
        </p:nvSpPr>
        <p:spPr>
          <a:xfrm>
            <a:off x="7827264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96912" y="3429000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96912" y="4297680"/>
            <a:ext cx="179222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Abastecimiento de madera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00032" y="228600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F7F5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40112" y="2560320"/>
            <a:ext cx="731520" cy="731520"/>
          </a:xfrm>
          <a:prstGeom prst="ellipse">
            <a:avLst/>
          </a:prstGeom>
          <a:solidFill>
            <a:srgbClr val="0F6674"/>
          </a:solidFill>
          <a:ln/>
        </p:spPr>
      </p:sp>
      <p:sp>
        <p:nvSpPr>
          <p:cNvPr id="27" name="Text 25"/>
          <p:cNvSpPr/>
          <p:nvPr/>
        </p:nvSpPr>
        <p:spPr>
          <a:xfrm>
            <a:off x="10040112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09760" y="3429000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y ventas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509760" y="4297680"/>
            <a:ext cx="179222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Redes, ferias y postventa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6674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3200400" cy="3200400"/>
          </a:xfrm>
          <a:prstGeom prst="ellipse">
            <a:avLst/>
          </a:prstGeom>
          <a:solidFill>
            <a:srgbClr val="8C5A3C">
              <a:alpha val="30000"/>
            </a:srgbClr>
          </a:solidFill>
          <a:ln/>
        </p:spPr>
      </p:sp>
      <p:pic>
        <p:nvPicPr>
          <p:cNvPr id="4" name="Image 0" descr="icons/FaHe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92024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063240"/>
            <a:ext cx="1216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0" y="402336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 Muebles — Diseño con propósito, madera con historia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493776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993</Words>
  <Application>Microsoft Office PowerPoint</Application>
  <PresentationFormat>Panorámica</PresentationFormat>
  <Paragraphs>163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ReCrea Muebles - Trabajo Final Liderazgo</dc:title>
  <dc:subject>PptxGenJS Presentation</dc:subject>
  <dc:creator>ReCrea Muebles</dc:creator>
  <cp:lastModifiedBy>sebas gomez</cp:lastModifiedBy>
  <cp:revision>2</cp:revision>
  <dcterms:created xsi:type="dcterms:W3CDTF">2026-07-06T02:45:31Z</dcterms:created>
  <dcterms:modified xsi:type="dcterms:W3CDTF">2026-07-06T07:26:28Z</dcterms:modified>
</cp:coreProperties>
</file>